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66928"/>
            <a:ext cx="64008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8D2BE"/>
                </a:solidFill>
                <a:latin typeface="Aptos"/>
              </a:rPr>
              <a:t>HARDWARE DESIGN • STRUCTURAL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19202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4F8FC"/>
                </a:solidFill>
                <a:latin typeface="Aptos"/>
              </a:rPr>
              <a:t>Smart Bridge Health
Monitoring and Earthquake
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5394960" cy="8229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DBCCF"/>
                </a:solidFill>
                <a:latin typeface="Aptos"/>
              </a:rPr>
              <a:t>Hardware architecture for steel and metal bridge monitoring using an ESP32-C3, MPU6050, ADS1115, and PZT sensors.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617720"/>
            <a:ext cx="1261872" cy="91440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1170432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8D2BE"/>
                </a:solidFill>
                <a:latin typeface="Aptos"/>
              </a:rPr>
              <a:t>ESP32-C3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38928"/>
            <a:ext cx="1170432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DBCCF"/>
                </a:solidFill>
                <a:latin typeface="Aptos"/>
              </a:rPr>
              <a:t>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4617720"/>
            <a:ext cx="1261872" cy="91440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40279" y="4800600"/>
            <a:ext cx="1170432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EBEFF"/>
                </a:solidFill>
                <a:latin typeface="Aptos"/>
              </a:rPr>
              <a:t>MPU6050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79" y="5138928"/>
            <a:ext cx="1170432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DBCCF"/>
                </a:solidFill>
                <a:latin typeface="Aptos"/>
              </a:rPr>
              <a:t>Motion sensor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4617720"/>
            <a:ext cx="1261872" cy="91440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4800600"/>
            <a:ext cx="1170432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B152"/>
                </a:solidFill>
                <a:latin typeface="Aptos"/>
              </a:rPr>
              <a:t>ADS1115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138928"/>
            <a:ext cx="1170432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DBCCF"/>
                </a:solidFill>
                <a:latin typeface="Aptos"/>
              </a:rPr>
              <a:t>ADC module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617720"/>
            <a:ext cx="1261872" cy="91440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4800600"/>
            <a:ext cx="1170432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75DE9A"/>
                </a:solidFill>
                <a:latin typeface="Aptos"/>
              </a:rPr>
              <a:t>PZT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5138928"/>
            <a:ext cx="1170432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DBCCF"/>
                </a:solidFill>
                <a:latin typeface="Aptos"/>
              </a:rPr>
              <a:t>Piezo sensor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417320"/>
            <a:ext cx="4343400" cy="406908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78040" y="1664208"/>
            <a:ext cx="379476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8D2BE"/>
                </a:solidFill>
                <a:latin typeface="Aptos"/>
              </a:rPr>
              <a:t>HARDWARE SIGNAL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2331720"/>
            <a:ext cx="1051560" cy="713232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2587752"/>
            <a:ext cx="96012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B152"/>
                </a:solidFill>
                <a:latin typeface="Aptos"/>
              </a:rPr>
              <a:t>PZT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331720"/>
            <a:ext cx="1051560" cy="713232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0" y="2587752"/>
            <a:ext cx="96012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EBEFF"/>
                </a:solidFill>
                <a:latin typeface="Aptos"/>
              </a:rPr>
              <a:t>ADS1115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2331720"/>
            <a:ext cx="1051560" cy="713232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04120" y="2587752"/>
            <a:ext cx="96012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8D2BE"/>
                </a:solidFill>
                <a:latin typeface="Aptos"/>
              </a:rPr>
              <a:t>ESP32-C3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3886200"/>
            <a:ext cx="1051560" cy="713232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0" y="4142232"/>
            <a:ext cx="96012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75DE9A"/>
                </a:solidFill>
                <a:latin typeface="Aptos"/>
              </a:rPr>
              <a:t>MPU6050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21040" y="2688336"/>
            <a:ext cx="411480" cy="0"/>
          </a:xfrm>
          <a:prstGeom prst="line">
            <a:avLst/>
          </a:prstGeom>
          <a:ln w="2540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84080" y="2688336"/>
            <a:ext cx="274320" cy="0"/>
          </a:xfrm>
          <a:prstGeom prst="line">
            <a:avLst/>
          </a:prstGeom>
          <a:ln w="2540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253728" y="3044952"/>
            <a:ext cx="0" cy="841248"/>
          </a:xfrm>
          <a:prstGeom prst="line">
            <a:avLst/>
          </a:prstGeom>
          <a:ln w="2540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0" y="4892040"/>
            <a:ext cx="3566160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Conceptual connection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D2BE"/>
                </a:solidFill>
                <a:latin typeface="Aptos"/>
              </a:rPr>
              <a:t>01 / HARDWARE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8FC"/>
                </a:solidFill>
                <a:latin typeface="Aptos"/>
              </a:rPr>
              <a:t>Hardware problem and design goals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1B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69880" y="6510528"/>
            <a:ext cx="109728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CCF"/>
                </a:solidFill>
                <a:latin typeface="Aptos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8FC"/>
                </a:solidFill>
                <a:latin typeface="Aptos"/>
              </a:rPr>
              <a:t>The prototype must sense movement, capture vibration signals, and deliver usable data to the controller.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3474720" cy="137160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73152" cy="1371600"/>
          </a:xfrm>
          <a:prstGeom prst="rect">
            <a:avLst/>
          </a:prstGeom>
          <a:solidFill>
            <a:srgbClr val="5EBEFF"/>
          </a:solidFill>
          <a:ln>
            <a:solidFill>
              <a:srgbClr val="5E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Measure movement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24327"/>
            <a:ext cx="3108960" cy="8046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Capture acceleration and angular motion using an IMU.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474720" cy="137160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73152" cy="1371600"/>
          </a:xfrm>
          <a:prstGeom prst="rect">
            <a:avLst/>
          </a:prstGeom>
          <a:solidFill>
            <a:srgbClr val="FFB152"/>
          </a:solidFill>
          <a:ln>
            <a:solidFill>
              <a:srgbClr val="FFB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2267712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Capture vibration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24327"/>
            <a:ext cx="3108960" cy="8046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Use a PZT sensor to respond to vibration or strain-related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103120"/>
            <a:ext cx="3474720" cy="137160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2103120"/>
            <a:ext cx="73152" cy="1371600"/>
          </a:xfrm>
          <a:prstGeom prst="rect">
            <a:avLst/>
          </a:prstGeom>
          <a:solidFill>
            <a:srgbClr val="28D2BE"/>
          </a:solidFill>
          <a:ln>
            <a:solidFill>
              <a:srgbClr val="2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2267712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Read analog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624327"/>
            <a:ext cx="3108960" cy="8046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Convert conditioned PZT signals into digital samples using an ADC.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310896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8D2BE"/>
                </a:solidFill>
                <a:latin typeface="Aptos"/>
              </a:rPr>
              <a:t>HARDWARE DESIGN GOALS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34840"/>
            <a:ext cx="2468880" cy="1097280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219456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Compact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219456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Small controller and breakout modules.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4434840"/>
            <a:ext cx="2468880" cy="1097280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03320" y="4617720"/>
            <a:ext cx="219456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Modular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983480"/>
            <a:ext cx="219456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Keep sensors, conversion, and control separate.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4434840"/>
            <a:ext cx="2468880" cy="1097280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617720"/>
            <a:ext cx="219456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Expandable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983480"/>
            <a:ext cx="219456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Allow extra sensor channels later.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3999" y="4434840"/>
            <a:ext cx="2468880" cy="1097280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59" y="4617720"/>
            <a:ext cx="219456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Safe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59" y="4983480"/>
            <a:ext cx="219456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Protect sensor signals before ADC input.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D2BE"/>
                </a:solidFill>
                <a:latin typeface="Aptos"/>
              </a:rPr>
              <a:t>02 / PARTS AND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8FC"/>
                </a:solidFill>
                <a:latin typeface="Aptos"/>
              </a:rPr>
              <a:t>Main hardware components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1B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69880" y="6510528"/>
            <a:ext cx="109728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CCF"/>
                </a:solidFill>
                <a:latin typeface="Aptos"/>
              </a:rP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561320" cy="667512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91440" cy="667512"/>
          </a:xfrm>
          <a:prstGeom prst="rect">
            <a:avLst/>
          </a:prstGeom>
          <a:solidFill>
            <a:srgbClr val="28D2BE"/>
          </a:solidFill>
          <a:ln>
            <a:solidFill>
              <a:srgbClr val="2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28216"/>
            <a:ext cx="25603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8D2BE"/>
                </a:solidFill>
                <a:latin typeface="Aptos"/>
              </a:rPr>
              <a:t>ESP32-C3 Super 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91639"/>
            <a:ext cx="726948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Main controller; reads digital sensor data and transfers it to the software.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04872"/>
            <a:ext cx="10561320" cy="667512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404872"/>
            <a:ext cx="91440" cy="667512"/>
          </a:xfrm>
          <a:prstGeom prst="rect">
            <a:avLst/>
          </a:prstGeom>
          <a:solidFill>
            <a:srgbClr val="5EBEFF"/>
          </a:solidFill>
          <a:ln>
            <a:solidFill>
              <a:srgbClr val="5E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578608"/>
            <a:ext cx="25603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EBEFF"/>
                </a:solidFill>
                <a:latin typeface="Aptos"/>
              </a:rPr>
              <a:t>MPU6050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42032"/>
            <a:ext cx="726948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6-axis accelerometer and gyroscope; measures acceleration and angular velocity.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55264"/>
            <a:ext cx="10561320" cy="667512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255264"/>
            <a:ext cx="91440" cy="667512"/>
          </a:xfrm>
          <a:prstGeom prst="rect">
            <a:avLst/>
          </a:prstGeom>
          <a:solidFill>
            <a:srgbClr val="FFB152"/>
          </a:solidFill>
          <a:ln>
            <a:solidFill>
              <a:srgbClr val="FFB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429000"/>
            <a:ext cx="25603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B152"/>
                </a:solidFill>
                <a:latin typeface="Aptos"/>
              </a:rPr>
              <a:t>ADS1115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392424"/>
            <a:ext cx="726948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16-bit I²C analog-to-digital converter for conditioned PZT signals.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05656"/>
            <a:ext cx="10561320" cy="667512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4105656"/>
            <a:ext cx="91440" cy="667512"/>
          </a:xfrm>
          <a:prstGeom prst="rect">
            <a:avLst/>
          </a:prstGeom>
          <a:solidFill>
            <a:srgbClr val="75DE9A"/>
          </a:solidFill>
          <a:ln>
            <a:solidFill>
              <a:srgbClr val="75D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279392"/>
            <a:ext cx="25603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5DE9A"/>
                </a:solidFill>
                <a:latin typeface="Aptos"/>
              </a:rPr>
              <a:t>PZT sensor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242816"/>
            <a:ext cx="726948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Piezoelectric element that generates voltage in response to mechanical stress or vibration.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56048"/>
            <a:ext cx="10561320" cy="667512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4956048"/>
            <a:ext cx="91440" cy="667512"/>
          </a:xfrm>
          <a:prstGeom prst="rect">
            <a:avLst/>
          </a:prstGeom>
          <a:solidFill>
            <a:srgbClr val="FF6973"/>
          </a:solidFill>
          <a:ln>
            <a:solidFill>
              <a:srgbClr val="F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129784"/>
            <a:ext cx="25603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6973"/>
                </a:solidFill>
                <a:latin typeface="Aptos"/>
              </a:rPr>
              <a:t>Power and wiring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093208"/>
            <a:ext cx="726948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Regulated supply, common ground, suitable connectors, and strain relief.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D2BE"/>
                </a:solidFill>
                <a:latin typeface="Aptos"/>
              </a:rPr>
              <a:t>03 / HOW THE MODULES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8FC"/>
                </a:solidFill>
                <a:latin typeface="Aptos"/>
              </a:rPr>
              <a:t>Hardware architecture and signal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1B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69880" y="6510528"/>
            <a:ext cx="109728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CCF"/>
                </a:solidFill>
                <a:latin typeface="Aptos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8FC"/>
                </a:solidFill>
                <a:latin typeface="Aptos"/>
              </a:rPr>
              <a:t>Two sensing paths feed one controller: digital motion data and conditioned analog piezoelectric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2103120" cy="91440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194560"/>
            <a:ext cx="1956815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EBEFF"/>
                </a:solidFill>
                <a:latin typeface="Aptos"/>
              </a:rPr>
              <a:t>MPU6050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42032"/>
            <a:ext cx="1956815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DBCCF"/>
                </a:solidFill>
                <a:latin typeface="Aptos"/>
              </a:rPr>
              <a:t>Acceleration + gyro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31920"/>
            <a:ext cx="2103120" cy="91440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4114800"/>
            <a:ext cx="1956815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B152"/>
                </a:solidFill>
                <a:latin typeface="Aptos"/>
              </a:rPr>
              <a:t>PZT SENSOR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462272"/>
            <a:ext cx="1956815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DBCCF"/>
                </a:solidFill>
                <a:latin typeface="Aptos"/>
              </a:rPr>
              <a:t>Analog voltage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931920"/>
            <a:ext cx="2286000" cy="914400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0752" y="4114800"/>
            <a:ext cx="2139696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8D2BE"/>
                </a:solidFill>
                <a:latin typeface="Aptos"/>
              </a:rPr>
              <a:t>SIGNAL CONDITIONING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4462272"/>
            <a:ext cx="2139696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DBCCF"/>
                </a:solidFill>
                <a:latin typeface="Aptos"/>
              </a:rPr>
              <a:t>Protection / bias / filter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3931920"/>
            <a:ext cx="1645920" cy="91440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02552" y="4114800"/>
            <a:ext cx="1499616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EBEFF"/>
                </a:solidFill>
                <a:latin typeface="Aptos"/>
              </a:rPr>
              <a:t>ADS1115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4462272"/>
            <a:ext cx="1499616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DBCCF"/>
                </a:solidFill>
                <a:latin typeface="Aptos"/>
              </a:rPr>
              <a:t>ADC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880360"/>
            <a:ext cx="2011680" cy="1051560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08592" y="3063240"/>
            <a:ext cx="1865376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8D2BE"/>
                </a:solidFill>
                <a:latin typeface="Aptos"/>
              </a:rPr>
              <a:t>ESP32-C3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3410712"/>
            <a:ext cx="1865376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DBCCF"/>
                </a:solidFill>
                <a:latin typeface="Aptos"/>
              </a:rPr>
              <a:t>Reads both paths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80360" y="2468880"/>
            <a:ext cx="6355080" cy="777240"/>
          </a:xfrm>
          <a:prstGeom prst="line">
            <a:avLst/>
          </a:prstGeom>
          <a:ln w="2540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80360" y="4389120"/>
            <a:ext cx="777240" cy="0"/>
          </a:xfrm>
          <a:prstGeom prst="line">
            <a:avLst/>
          </a:prstGeom>
          <a:ln w="25400">
            <a:solidFill>
              <a:srgbClr val="FF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43600" y="4389120"/>
            <a:ext cx="685800" cy="0"/>
          </a:xfrm>
          <a:prstGeom prst="line">
            <a:avLst/>
          </a:prstGeom>
          <a:ln w="2540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75320" y="3931920"/>
            <a:ext cx="1371600" cy="457200"/>
          </a:xfrm>
          <a:prstGeom prst="line">
            <a:avLst/>
          </a:prstGeom>
          <a:ln w="2540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DBCCF"/>
                </a:solidFill>
                <a:latin typeface="Aptos"/>
              </a:rPr>
              <a:t>MPU6050 and ADS1115 typically share I²C; verify addresses and voltage compatibility.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D2BE"/>
                </a:solidFill>
                <a:latin typeface="Aptos"/>
              </a:rPr>
              <a:t>04 / CONTROLLER 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8FC"/>
                </a:solidFill>
                <a:latin typeface="Aptos"/>
              </a:rPr>
              <a:t>ESP32-C3 Super Mini connections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1B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69880" y="6510528"/>
            <a:ext cx="109728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CCF"/>
                </a:solidFill>
                <a:latin typeface="Aptos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8FC"/>
                </a:solidFill>
                <a:latin typeface="Aptos"/>
              </a:rPr>
              <a:t>Example wiring map — confirm the exact GPIO labels and pinout for your board version.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43200" cy="393192"/>
          </a:xfrm>
          <a:prstGeom prst="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11095"/>
            <a:ext cx="256032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8D2BE"/>
                </a:solidFill>
                <a:latin typeface="Aptos"/>
              </a:rPr>
              <a:t>Module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828800"/>
            <a:ext cx="3291840" cy="393192"/>
          </a:xfrm>
          <a:prstGeom prst="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59" y="1911095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8D2BE"/>
                </a:solidFill>
                <a:latin typeface="Aptos"/>
              </a:rPr>
              <a:t>ESP32-C3 connection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828800"/>
            <a:ext cx="4023360" cy="393192"/>
          </a:xfrm>
          <a:prstGeom prst="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1911095"/>
            <a:ext cx="384048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8D2BE"/>
                </a:solidFill>
                <a:latin typeface="Aptos"/>
              </a:rPr>
              <a:t>Purpose /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67712"/>
            <a:ext cx="2743200" cy="393192"/>
          </a:xfrm>
          <a:prstGeom prst="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350008"/>
            <a:ext cx="256032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MPU6050 VCC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267712"/>
            <a:ext cx="3291840" cy="393192"/>
          </a:xfrm>
          <a:prstGeom prst="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4759" y="2350008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3V3 (if supported)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267712"/>
            <a:ext cx="4023360" cy="393192"/>
          </a:xfrm>
          <a:prstGeom prst="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2350008"/>
            <a:ext cx="384048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Power IMU from a compatible supply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06624"/>
            <a:ext cx="2743200" cy="393192"/>
          </a:xfrm>
          <a:prstGeom prst="rect">
            <a:avLst/>
          </a:prstGeom>
          <a:solidFill>
            <a:srgbClr val="111D30"/>
          </a:solidFill>
          <a:ln>
            <a:solidFill>
              <a:srgbClr val="11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2788920"/>
            <a:ext cx="256032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MPU6050 GND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2706624"/>
            <a:ext cx="3291840" cy="393192"/>
          </a:xfrm>
          <a:prstGeom prst="rect">
            <a:avLst/>
          </a:prstGeom>
          <a:solidFill>
            <a:srgbClr val="111D30"/>
          </a:solidFill>
          <a:ln>
            <a:solidFill>
              <a:srgbClr val="11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94759" y="2788920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GND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706624"/>
            <a:ext cx="4023360" cy="393192"/>
          </a:xfrm>
          <a:prstGeom prst="rect">
            <a:avLst/>
          </a:prstGeom>
          <a:solidFill>
            <a:srgbClr val="111D30"/>
          </a:solidFill>
          <a:ln>
            <a:solidFill>
              <a:srgbClr val="11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0" y="2788920"/>
            <a:ext cx="384048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Common ground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145536"/>
            <a:ext cx="2743200" cy="393192"/>
          </a:xfrm>
          <a:prstGeom prst="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227832"/>
            <a:ext cx="256032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MPU6050 SDA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3145536"/>
            <a:ext cx="3291840" cy="393192"/>
          </a:xfrm>
          <a:prstGeom prst="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4759" y="3227832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Chosen I²C SDA GPIO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145536"/>
            <a:ext cx="4023360" cy="393192"/>
          </a:xfrm>
          <a:prstGeom prst="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0" y="3227832"/>
            <a:ext cx="384048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Digital sensor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84448"/>
            <a:ext cx="2743200" cy="393192"/>
          </a:xfrm>
          <a:prstGeom prst="rect">
            <a:avLst/>
          </a:prstGeom>
          <a:solidFill>
            <a:srgbClr val="111D30"/>
          </a:solidFill>
          <a:ln>
            <a:solidFill>
              <a:srgbClr val="11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3666744"/>
            <a:ext cx="256032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MPU6050 SCL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584448"/>
            <a:ext cx="3291840" cy="393192"/>
          </a:xfrm>
          <a:prstGeom prst="rect">
            <a:avLst/>
          </a:prstGeom>
          <a:solidFill>
            <a:srgbClr val="111D30"/>
          </a:solidFill>
          <a:ln>
            <a:solidFill>
              <a:srgbClr val="11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94759" y="3666744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Chosen I²C SCL GPIO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584448"/>
            <a:ext cx="4023360" cy="393192"/>
          </a:xfrm>
          <a:prstGeom prst="rect">
            <a:avLst/>
          </a:prstGeom>
          <a:solidFill>
            <a:srgbClr val="111D30"/>
          </a:solidFill>
          <a:ln>
            <a:solidFill>
              <a:srgbClr val="11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0" y="3666744"/>
            <a:ext cx="384048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I²C clock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023360"/>
            <a:ext cx="2743200" cy="393192"/>
          </a:xfrm>
          <a:prstGeom prst="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4105656"/>
            <a:ext cx="256032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ADS1115 VDD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3320" y="4023360"/>
            <a:ext cx="3291840" cy="393192"/>
          </a:xfrm>
          <a:prstGeom prst="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94759" y="4105656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3V3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023360"/>
            <a:ext cx="4023360" cy="393192"/>
          </a:xfrm>
          <a:prstGeom prst="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0" y="4105656"/>
            <a:ext cx="384048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Check module specifications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462272"/>
            <a:ext cx="2743200" cy="393192"/>
          </a:xfrm>
          <a:prstGeom prst="rect">
            <a:avLst/>
          </a:prstGeom>
          <a:solidFill>
            <a:srgbClr val="111D30"/>
          </a:solidFill>
          <a:ln>
            <a:solidFill>
              <a:srgbClr val="11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4544568"/>
            <a:ext cx="256032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ADS1115 GND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03320" y="4462272"/>
            <a:ext cx="3291840" cy="393192"/>
          </a:xfrm>
          <a:prstGeom prst="rect">
            <a:avLst/>
          </a:prstGeom>
          <a:solidFill>
            <a:srgbClr val="111D30"/>
          </a:solidFill>
          <a:ln>
            <a:solidFill>
              <a:srgbClr val="11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94759" y="4544568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GND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4462272"/>
            <a:ext cx="4023360" cy="393192"/>
          </a:xfrm>
          <a:prstGeom prst="rect">
            <a:avLst/>
          </a:prstGeom>
          <a:solidFill>
            <a:srgbClr val="111D30"/>
          </a:solidFill>
          <a:ln>
            <a:solidFill>
              <a:srgbClr val="11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0" y="4544568"/>
            <a:ext cx="384048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Common ground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901183"/>
            <a:ext cx="2743200" cy="393192"/>
          </a:xfrm>
          <a:prstGeom prst="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4983479"/>
            <a:ext cx="256032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ADS1115 SDA / SCL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03320" y="4901183"/>
            <a:ext cx="3291840" cy="393192"/>
          </a:xfrm>
          <a:prstGeom prst="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94759" y="4983479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Same I²C SDA / SCL bus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4901183"/>
            <a:ext cx="4023360" cy="393192"/>
          </a:xfrm>
          <a:prstGeom prst="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15200" y="4983479"/>
            <a:ext cx="384048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4F8FC"/>
                </a:solidFill>
                <a:latin typeface="Aptos"/>
              </a:rPr>
              <a:t>Shared bus if addresses and wiring are valid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D2BE"/>
                </a:solidFill>
                <a:latin typeface="Aptos"/>
              </a:rPr>
              <a:t>05 / DIGITAL SENSOR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8FC"/>
                </a:solidFill>
                <a:latin typeface="Aptos"/>
              </a:rPr>
              <a:t>MPU6050: motion sensing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1B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69880" y="6510528"/>
            <a:ext cx="109728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CCF"/>
                </a:solidFill>
                <a:latin typeface="Aptos"/>
              </a:rP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657600" cy="356616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38528"/>
            <a:ext cx="310896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5EBEFF"/>
                </a:solidFill>
                <a:latin typeface="Aptos"/>
              </a:rPr>
              <a:t>MPU6050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487168"/>
            <a:ext cx="2697480" cy="347472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569464"/>
            <a:ext cx="242316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VCC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962656"/>
            <a:ext cx="2697480" cy="347472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3044952"/>
            <a:ext cx="242316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GND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438144"/>
            <a:ext cx="2697480" cy="347472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242316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SDA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3913632"/>
            <a:ext cx="2697480" cy="347472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3995928"/>
            <a:ext cx="242316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SCL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4389120"/>
            <a:ext cx="2697480" cy="347472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4471416"/>
            <a:ext cx="242316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INT (optional)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2212848"/>
            <a:ext cx="2743200" cy="105156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37760" y="2212848"/>
            <a:ext cx="73152" cy="1051560"/>
          </a:xfrm>
          <a:prstGeom prst="rect">
            <a:avLst/>
          </a:prstGeom>
          <a:solidFill>
            <a:srgbClr val="5EBEFF"/>
          </a:solidFill>
          <a:ln>
            <a:solidFill>
              <a:srgbClr val="5E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38928" y="2377440"/>
            <a:ext cx="237744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Accelerometer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2734056"/>
            <a:ext cx="2377440" cy="48463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Acceleration along X, Y, Z axes.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212848"/>
            <a:ext cx="2743200" cy="105156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01000" y="2212848"/>
            <a:ext cx="73152" cy="1051560"/>
          </a:xfrm>
          <a:prstGeom prst="rect">
            <a:avLst/>
          </a:prstGeom>
          <a:solidFill>
            <a:srgbClr val="FFB152"/>
          </a:solidFill>
          <a:ln>
            <a:solidFill>
              <a:srgbClr val="FFB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02168" y="2377440"/>
            <a:ext cx="237744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Gyroscope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2734056"/>
            <a:ext cx="2377440" cy="48463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Angular velocity around X, Y, Z axes.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3657600"/>
            <a:ext cx="5806440" cy="1143000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66360" y="3858768"/>
            <a:ext cx="219456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8FC"/>
                </a:solidFill>
                <a:latin typeface="Aptos"/>
              </a:rPr>
              <a:t>Connection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224528"/>
            <a:ext cx="5212080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DBCCF"/>
                </a:solidFill>
                <a:latin typeface="Aptos"/>
              </a:rPr>
              <a:t>SDA and SCL connect to the ESP32-C3 I²C bus. INT is optional if interrupt-driven sampling is 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D2BE"/>
                </a:solidFill>
                <a:latin typeface="Aptos"/>
              </a:rPr>
              <a:t>06 / ANALOG SENSING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8FC"/>
                </a:solidFill>
                <a:latin typeface="Aptos"/>
              </a:rPr>
              <a:t>PZT sensor and ADS1115 signal path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1B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69880" y="6510528"/>
            <a:ext cx="109728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CCF"/>
                </a:solidFill>
                <a:latin typeface="Aptos"/>
              </a:rP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108960" cy="141732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1417320"/>
          </a:xfrm>
          <a:prstGeom prst="rect">
            <a:avLst/>
          </a:prstGeom>
          <a:solidFill>
            <a:srgbClr val="FFB152"/>
          </a:solidFill>
          <a:ln>
            <a:solidFill>
              <a:srgbClr val="FFB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274320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PZT 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2743200" cy="8503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Mechanical stress or vibration creates a changing electrical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91640"/>
            <a:ext cx="3108960" cy="141732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691640"/>
            <a:ext cx="73152" cy="1417320"/>
          </a:xfrm>
          <a:prstGeom prst="rect">
            <a:avLst/>
          </a:prstGeom>
          <a:solidFill>
            <a:srgbClr val="28D2BE"/>
          </a:solidFill>
          <a:ln>
            <a:solidFill>
              <a:srgbClr val="2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856232"/>
            <a:ext cx="274320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Signal conditioning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212848"/>
            <a:ext cx="2743200" cy="8503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Add suitable protection, biasing, and filtering before ADC input.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91640"/>
            <a:ext cx="3108960" cy="141732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691640"/>
            <a:ext cx="73152" cy="1417320"/>
          </a:xfrm>
          <a:prstGeom prst="rect">
            <a:avLst/>
          </a:prstGeom>
          <a:solidFill>
            <a:srgbClr val="5EBEFF"/>
          </a:solidFill>
          <a:ln>
            <a:solidFill>
              <a:srgbClr val="5E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8" y="1856232"/>
            <a:ext cx="274320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ADS1115 ADC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212848"/>
            <a:ext cx="2743200" cy="8503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Converts conditioned analog voltage into digital samples over I²C.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80" y="2395728"/>
            <a:ext cx="685800" cy="0"/>
          </a:xfrm>
          <a:prstGeom prst="line">
            <a:avLst/>
          </a:prstGeom>
          <a:ln w="2540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35240" y="2395728"/>
            <a:ext cx="685800" cy="0"/>
          </a:xfrm>
          <a:prstGeom prst="line">
            <a:avLst/>
          </a:prstGeom>
          <a:ln w="2540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3703320"/>
            <a:ext cx="10469880" cy="1325880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931920"/>
            <a:ext cx="283464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B152"/>
                </a:solidFill>
                <a:latin typeface="Aptos"/>
              </a:rPr>
              <a:t>IMPORTANT ELECTRICAL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877056"/>
            <a:ext cx="6995160" cy="7132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4F8FC"/>
                </a:solidFill>
                <a:latin typeface="Aptos"/>
              </a:rPr>
              <a:t>Do not connect a bare PZT element directly to the ADS1115 without a designed input circuit. Piezo sensors can produce voltage spikes; protect the ADC and keep signals within its allowed range.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D2BE"/>
                </a:solidFill>
                <a:latin typeface="Aptos"/>
              </a:rPr>
              <a:t>07 / DIGITAL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8FC"/>
                </a:solidFill>
                <a:latin typeface="Aptos"/>
              </a:rPr>
              <a:t>I²C bus: sharing SDA and SCL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1B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69880" y="6510528"/>
            <a:ext cx="109728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CCF"/>
                </a:solidFill>
                <a:latin typeface="Aptos"/>
              </a:rPr>
              <a:t>08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286000" cy="1143000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39696"/>
            <a:ext cx="192024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8D2BE"/>
                </a:solidFill>
                <a:latin typeface="Aptos"/>
              </a:rPr>
              <a:t>ESP32-C3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92024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I²C 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572768"/>
            <a:ext cx="2377440" cy="105156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847088"/>
            <a:ext cx="20116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EBEFF"/>
                </a:solidFill>
                <a:latin typeface="Aptos"/>
              </a:rPr>
              <a:t>MPU6050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194560"/>
            <a:ext cx="201168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IMU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429000"/>
            <a:ext cx="2377440" cy="105156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3703320"/>
            <a:ext cx="20116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B152"/>
                </a:solidFill>
                <a:latin typeface="Aptos"/>
              </a:rPr>
              <a:t>ADS1115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050791"/>
            <a:ext cx="201168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ADC readings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2212848"/>
            <a:ext cx="640079" cy="0"/>
          </a:xfrm>
          <a:prstGeom prst="line">
            <a:avLst/>
          </a:prstGeom>
          <a:ln w="2540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49039" y="2212848"/>
            <a:ext cx="0" cy="1737360"/>
          </a:xfrm>
          <a:prstGeom prst="line">
            <a:avLst/>
          </a:prstGeom>
          <a:ln w="2540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749039" y="2103120"/>
            <a:ext cx="960121" cy="109728"/>
          </a:xfrm>
          <a:prstGeom prst="line">
            <a:avLst/>
          </a:prstGeom>
          <a:ln w="2540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49039" y="3950208"/>
            <a:ext cx="960121" cy="0"/>
          </a:xfrm>
          <a:prstGeom prst="line">
            <a:avLst/>
          </a:prstGeom>
          <a:ln w="2540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43800" y="1828800"/>
            <a:ext cx="3474720" cy="10058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8FC"/>
                </a:solidFill>
                <a:latin typeface="Aptos"/>
              </a:rPr>
              <a:t>Both modules can share SDA/SCL if addresses differ and pull-ups / voltage levels are compatible.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154680"/>
            <a:ext cx="3474720" cy="12344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DBCCF"/>
                </a:solidFill>
                <a:latin typeface="Aptos"/>
              </a:rPr>
              <a:t>Verify the address with an I²C scan. MPU6050 often uses 0x68 or 0x69; ADS1115 commonly uses 0x48–0x4B depending on ADDR wiring.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D2BE"/>
                </a:solidFill>
                <a:latin typeface="Aptos"/>
              </a:rPr>
              <a:t>08 / PHYSICAL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8FC"/>
                </a:solidFill>
                <a:latin typeface="Aptos"/>
              </a:rPr>
              <a:t>Sensor placement on a steel bridge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1B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69880" y="6510528"/>
            <a:ext cx="109728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CCF"/>
                </a:solidFill>
                <a:latin typeface="Aptos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Placement is conceptual; final positions depend on bridge geometry, expected modes, and engineering guidance.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43000" y="4343400"/>
            <a:ext cx="9875520" cy="0"/>
          </a:xfrm>
          <a:prstGeom prst="line">
            <a:avLst/>
          </a:prstGeom>
          <a:ln w="50800">
            <a:solidFill>
              <a:srgbClr val="5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43000" y="2743200"/>
            <a:ext cx="9875520" cy="0"/>
          </a:xfrm>
          <a:prstGeom prst="line">
            <a:avLst/>
          </a:prstGeom>
          <a:ln w="25400">
            <a:solidFill>
              <a:srgbClr val="5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43000" y="2743200"/>
            <a:ext cx="0" cy="1600200"/>
          </a:xfrm>
          <a:prstGeom prst="line">
            <a:avLst/>
          </a:prstGeom>
          <a:ln w="1905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43000" y="2743200"/>
            <a:ext cx="1408176" cy="1600200"/>
          </a:xfrm>
          <a:prstGeom prst="line">
            <a:avLst/>
          </a:prstGeom>
          <a:ln w="19050">
            <a:solidFill>
              <a:srgbClr val="FF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51176" y="2743200"/>
            <a:ext cx="0" cy="1600200"/>
          </a:xfrm>
          <a:prstGeom prst="line">
            <a:avLst/>
          </a:prstGeom>
          <a:ln w="1905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51176" y="2743200"/>
            <a:ext cx="1408176" cy="1600200"/>
          </a:xfrm>
          <a:prstGeom prst="line">
            <a:avLst/>
          </a:prstGeom>
          <a:ln w="19050">
            <a:solidFill>
              <a:srgbClr val="FF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59352" y="2743200"/>
            <a:ext cx="0" cy="1600200"/>
          </a:xfrm>
          <a:prstGeom prst="line">
            <a:avLst/>
          </a:prstGeom>
          <a:ln w="1905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959352" y="2743200"/>
            <a:ext cx="1408176" cy="1600200"/>
          </a:xfrm>
          <a:prstGeom prst="line">
            <a:avLst/>
          </a:prstGeom>
          <a:ln w="19050">
            <a:solidFill>
              <a:srgbClr val="FF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67528" y="2743200"/>
            <a:ext cx="0" cy="1600200"/>
          </a:xfrm>
          <a:prstGeom prst="line">
            <a:avLst/>
          </a:prstGeom>
          <a:ln w="1905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67528" y="2743200"/>
            <a:ext cx="1408176" cy="1600200"/>
          </a:xfrm>
          <a:prstGeom prst="line">
            <a:avLst/>
          </a:prstGeom>
          <a:ln w="19050">
            <a:solidFill>
              <a:srgbClr val="FF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75704" y="2743200"/>
            <a:ext cx="0" cy="1600200"/>
          </a:xfrm>
          <a:prstGeom prst="line">
            <a:avLst/>
          </a:prstGeom>
          <a:ln w="1905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75704" y="2743200"/>
            <a:ext cx="1408175" cy="1600200"/>
          </a:xfrm>
          <a:prstGeom prst="line">
            <a:avLst/>
          </a:prstGeom>
          <a:ln w="19050">
            <a:solidFill>
              <a:srgbClr val="FF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83879" y="2743200"/>
            <a:ext cx="0" cy="1600200"/>
          </a:xfrm>
          <a:prstGeom prst="line">
            <a:avLst/>
          </a:prstGeom>
          <a:ln w="1905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183879" y="2743200"/>
            <a:ext cx="1408176" cy="1600200"/>
          </a:xfrm>
          <a:prstGeom prst="line">
            <a:avLst/>
          </a:prstGeom>
          <a:ln w="19050">
            <a:solidFill>
              <a:srgbClr val="FF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92056" y="2743200"/>
            <a:ext cx="0" cy="1600200"/>
          </a:xfrm>
          <a:prstGeom prst="line">
            <a:avLst/>
          </a:prstGeom>
          <a:ln w="1905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92056" y="2743200"/>
            <a:ext cx="1408176" cy="1600200"/>
          </a:xfrm>
          <a:prstGeom prst="line">
            <a:avLst/>
          </a:prstGeom>
          <a:ln w="19050">
            <a:solidFill>
              <a:srgbClr val="FF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00232" y="2743200"/>
            <a:ext cx="0" cy="1600200"/>
          </a:xfrm>
          <a:prstGeom prst="line">
            <a:avLst/>
          </a:prstGeom>
          <a:ln w="19050">
            <a:solidFill>
              <a:srgbClr val="28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377440" y="2487168"/>
            <a:ext cx="182880" cy="182880"/>
          </a:xfrm>
          <a:prstGeom prst="ellipse">
            <a:avLst/>
          </a:prstGeom>
          <a:solidFill>
            <a:srgbClr val="75DE9A"/>
          </a:solidFill>
          <a:ln>
            <a:solidFill>
              <a:srgbClr val="75D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03120" y="2103120"/>
            <a:ext cx="73152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75DE9A"/>
                </a:solidFill>
                <a:latin typeface="Aptos"/>
              </a:rPr>
              <a:t>IMU</a:t>
            </a:r>
          </a:p>
        </p:txBody>
      </p:sp>
      <p:sp>
        <p:nvSpPr>
          <p:cNvPr id="26" name="Oval 25"/>
          <p:cNvSpPr/>
          <p:nvPr/>
        </p:nvSpPr>
        <p:spPr>
          <a:xfrm>
            <a:off x="5943600" y="2487168"/>
            <a:ext cx="182880" cy="182880"/>
          </a:xfrm>
          <a:prstGeom prst="ellipse">
            <a:avLst/>
          </a:prstGeom>
          <a:solidFill>
            <a:srgbClr val="FFB152"/>
          </a:solidFill>
          <a:ln>
            <a:solidFill>
              <a:srgbClr val="FFB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0" y="2103120"/>
            <a:ext cx="73152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B152"/>
                </a:solidFill>
                <a:latin typeface="Aptos"/>
              </a:rPr>
              <a:t>PZT</a:t>
            </a:r>
          </a:p>
        </p:txBody>
      </p:sp>
      <p:sp>
        <p:nvSpPr>
          <p:cNvPr id="28" name="Oval 27"/>
          <p:cNvSpPr/>
          <p:nvPr/>
        </p:nvSpPr>
        <p:spPr>
          <a:xfrm>
            <a:off x="9326880" y="2487168"/>
            <a:ext cx="182880" cy="182880"/>
          </a:xfrm>
          <a:prstGeom prst="ellipse">
            <a:avLst/>
          </a:prstGeom>
          <a:solidFill>
            <a:srgbClr val="FFB152"/>
          </a:solidFill>
          <a:ln>
            <a:solidFill>
              <a:srgbClr val="FFB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52559" y="2103120"/>
            <a:ext cx="73152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B152"/>
                </a:solidFill>
                <a:latin typeface="Aptos"/>
              </a:rPr>
              <a:t>PZT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983480"/>
            <a:ext cx="10332720" cy="640080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5184648"/>
            <a:ext cx="9875520" cy="20116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Mount firmly • protect wiring • provide strain relief • label sensor locations • document orientation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D2BE"/>
                </a:solidFill>
                <a:latin typeface="Aptos"/>
              </a:rPr>
              <a:t>09 / RELIABLE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8FC"/>
                </a:solidFill>
                <a:latin typeface="Aptos"/>
              </a:rPr>
              <a:t>Power, grounding, and wiring practices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1B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69880" y="6510528"/>
            <a:ext cx="109728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CCF"/>
                </a:solidFill>
                <a:latin typeface="Aptos"/>
              </a:rPr>
              <a:t>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74720" cy="141732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1417320"/>
          </a:xfrm>
          <a:prstGeom prst="rect">
            <a:avLst/>
          </a:prstGeom>
          <a:solidFill>
            <a:srgbClr val="28D2BE"/>
          </a:solidFill>
          <a:ln>
            <a:solidFill>
              <a:srgbClr val="2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Regulated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3108960" cy="8503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Use a stable supply appropriate for the ESP32-C3 and each breakout.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74720" cy="141732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1417320"/>
          </a:xfrm>
          <a:prstGeom prst="rect">
            <a:avLst/>
          </a:prstGeom>
          <a:solidFill>
            <a:srgbClr val="5EBEFF"/>
          </a:solidFill>
          <a:ln>
            <a:solidFill>
              <a:srgbClr val="5E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Common 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108960" cy="8503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Connect grounds so digital and analog signals share a reference.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91640"/>
            <a:ext cx="3474720" cy="141732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691640"/>
            <a:ext cx="73152" cy="1417320"/>
          </a:xfrm>
          <a:prstGeom prst="rect">
            <a:avLst/>
          </a:prstGeom>
          <a:solidFill>
            <a:srgbClr val="FFB152"/>
          </a:solidFill>
          <a:ln>
            <a:solidFill>
              <a:srgbClr val="FFB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856232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8FC"/>
                </a:solidFill>
                <a:latin typeface="Aptos"/>
              </a:rPr>
              <a:t>Signal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212848"/>
            <a:ext cx="3108960" cy="8503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Protect the ADS1115 input from excessive or negative PZT voltage spikes.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57600"/>
            <a:ext cx="29260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8D2BE"/>
                </a:solidFill>
                <a:latin typeface="Aptos"/>
              </a:rPr>
              <a:t>GOOD BUILD PRACTICE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069080"/>
            <a:ext cx="118872" cy="118872"/>
          </a:xfrm>
          <a:prstGeom prst="ellipse">
            <a:avLst/>
          </a:prstGeom>
          <a:solidFill>
            <a:srgbClr val="28D2BE"/>
          </a:solidFill>
          <a:ln>
            <a:solidFill>
              <a:srgbClr val="2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70432" y="4023360"/>
            <a:ext cx="969264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Keep sensor wires secure and away from noisy power wiring.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416552"/>
            <a:ext cx="118872" cy="118872"/>
          </a:xfrm>
          <a:prstGeom prst="ellipse">
            <a:avLst/>
          </a:prstGeom>
          <a:solidFill>
            <a:srgbClr val="28D2BE"/>
          </a:solidFill>
          <a:ln>
            <a:solidFill>
              <a:srgbClr val="2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0432" y="4370832"/>
            <a:ext cx="969264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Use strain relief so vibration does not loosen connections.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764024"/>
            <a:ext cx="118872" cy="118872"/>
          </a:xfrm>
          <a:prstGeom prst="ellipse">
            <a:avLst/>
          </a:prstGeom>
          <a:solidFill>
            <a:srgbClr val="28D2BE"/>
          </a:solidFill>
          <a:ln>
            <a:solidFill>
              <a:srgbClr val="2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4718304"/>
            <a:ext cx="969264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Check polarity and continuity before powering the circuit.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111496"/>
            <a:ext cx="118872" cy="118872"/>
          </a:xfrm>
          <a:prstGeom prst="ellipse">
            <a:avLst/>
          </a:prstGeom>
          <a:solidFill>
            <a:srgbClr val="28D2BE"/>
          </a:solidFill>
          <a:ln>
            <a:solidFill>
              <a:srgbClr val="2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70432" y="5065776"/>
            <a:ext cx="969264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Measure supply voltage before connecting sensitive modules.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458968"/>
            <a:ext cx="118872" cy="118872"/>
          </a:xfrm>
          <a:prstGeom prst="ellipse">
            <a:avLst/>
          </a:prstGeom>
          <a:solidFill>
            <a:srgbClr val="28D2BE"/>
          </a:solidFill>
          <a:ln>
            <a:solidFill>
              <a:srgbClr val="2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70432" y="5413248"/>
            <a:ext cx="969264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Use suitable enclosure and insulation for the test setup.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D2BE"/>
                </a:solidFill>
                <a:latin typeface="Aptos"/>
              </a:rPr>
              <a:t>10 / BUILD AND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8FC"/>
                </a:solidFill>
                <a:latin typeface="Aptos"/>
              </a:rPr>
              <a:t>Prototype assembly and hardware checks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1B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69880" y="6510528"/>
            <a:ext cx="109728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CCF"/>
                </a:solidFill>
                <a:latin typeface="Aptos"/>
              </a:rP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16636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1828800"/>
            <a:ext cx="384048" cy="384048"/>
          </a:xfrm>
          <a:prstGeom prst="ellipse">
            <a:avLst/>
          </a:prstGeom>
          <a:solidFill>
            <a:srgbClr val="5EBEFF"/>
          </a:solidFill>
          <a:ln>
            <a:solidFill>
              <a:srgbClr val="5E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938528"/>
            <a:ext cx="384048" cy="1097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B1426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73936"/>
            <a:ext cx="41148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8FC"/>
                </a:solidFill>
                <a:latin typeface="Aptos"/>
              </a:rPr>
              <a:t>Inspect parts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103120"/>
            <a:ext cx="411480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Check labels, pinouts, and board condition.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16636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28231" y="1828800"/>
            <a:ext cx="384048" cy="384048"/>
          </a:xfrm>
          <a:prstGeom prst="ellipse">
            <a:avLst/>
          </a:prstGeom>
          <a:solidFill>
            <a:srgbClr val="28D2BE"/>
          </a:solidFill>
          <a:ln>
            <a:solidFill>
              <a:srgbClr val="2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938528"/>
            <a:ext cx="384048" cy="1097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B1426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773936"/>
            <a:ext cx="41148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8FC"/>
                </a:solidFill>
                <a:latin typeface="Aptos"/>
              </a:rPr>
              <a:t>Wire the IMU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2103120"/>
            <a:ext cx="411480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Connect MPU6050 power, ground, SDA, and SCL.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52928"/>
            <a:ext cx="516636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41832" y="3035808"/>
            <a:ext cx="384048" cy="384048"/>
          </a:xfrm>
          <a:prstGeom prst="ellipse">
            <a:avLst/>
          </a:prstGeom>
          <a:solidFill>
            <a:srgbClr val="FFB152"/>
          </a:solidFill>
          <a:ln>
            <a:solidFill>
              <a:srgbClr val="FFB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3145536"/>
            <a:ext cx="384048" cy="1097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B1426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2980944"/>
            <a:ext cx="41148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8FC"/>
                </a:solidFill>
                <a:latin typeface="Aptos"/>
              </a:rPr>
              <a:t>Wire the ADC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0472" y="3310128"/>
            <a:ext cx="411480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Connect ADS1115 I²C and conditioned PZT input.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852928"/>
            <a:ext cx="516636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28231" y="3035808"/>
            <a:ext cx="384048" cy="384048"/>
          </a:xfrm>
          <a:prstGeom prst="ellipse">
            <a:avLst/>
          </a:prstGeom>
          <a:solidFill>
            <a:srgbClr val="75DE9A"/>
          </a:solidFill>
          <a:ln>
            <a:solidFill>
              <a:srgbClr val="75D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1" y="3145536"/>
            <a:ext cx="384048" cy="1097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B1426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2980944"/>
            <a:ext cx="41148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8FC"/>
                </a:solidFill>
                <a:latin typeface="Aptos"/>
              </a:rPr>
              <a:t>Power and 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310128"/>
            <a:ext cx="411480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Confirm voltage and detect I²C addresses.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059936"/>
            <a:ext cx="516636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1832" y="4242816"/>
            <a:ext cx="384048" cy="384048"/>
          </a:xfrm>
          <a:prstGeom prst="ellipse">
            <a:avLst/>
          </a:prstGeom>
          <a:solidFill>
            <a:srgbClr val="5EBEFF"/>
          </a:solidFill>
          <a:ln>
            <a:solidFill>
              <a:srgbClr val="5E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" y="4352544"/>
            <a:ext cx="384048" cy="1097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B1426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0472" y="4187952"/>
            <a:ext cx="41148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8FC"/>
                </a:solidFill>
                <a:latin typeface="Aptos"/>
              </a:rPr>
              <a:t>Test each sensor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0472" y="4517136"/>
            <a:ext cx="411480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Tilt the IMU gently; use safe vibration on PZT test setup.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059936"/>
            <a:ext cx="5166360" cy="96012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28231" y="4242816"/>
            <a:ext cx="384048" cy="384048"/>
          </a:xfrm>
          <a:prstGeom prst="ellipse">
            <a:avLst/>
          </a:prstGeom>
          <a:solidFill>
            <a:srgbClr val="28D2BE"/>
          </a:solidFill>
          <a:ln>
            <a:solidFill>
              <a:srgbClr val="2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1" y="4352544"/>
            <a:ext cx="384048" cy="1097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B1426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6872" y="4187952"/>
            <a:ext cx="41148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8FC"/>
                </a:solidFill>
                <a:latin typeface="Aptos"/>
              </a:rPr>
              <a:t>Secure assembly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4517136"/>
            <a:ext cx="411480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DBCCF"/>
                </a:solidFill>
                <a:latin typeface="Aptos"/>
              </a:rPr>
              <a:t>Mount sensors firmly and document orientation/location.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486400"/>
            <a:ext cx="10424160" cy="502920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641848"/>
            <a:ext cx="1005840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B152"/>
                </a:solidFill>
                <a:latin typeface="Aptos"/>
              </a:rPr>
              <a:t>Before testing: inspect wiring, check common ground, verify input protection, and confirm no pin exceeds its rated voltage.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66928"/>
            <a:ext cx="41148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8D2BE"/>
                </a:solidFill>
                <a:latin typeface="Aptos"/>
              </a:rPr>
              <a:t>HARDWARE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577840" cy="20116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4F8FC"/>
                </a:solidFill>
                <a:latin typeface="Aptos"/>
              </a:rPr>
              <a:t>Sense the movement.
Capture the signal.
Deliver usable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5212080" cy="8229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DBCCF"/>
                </a:solidFill>
                <a:latin typeface="Aptos"/>
              </a:rPr>
              <a:t>The hardware combines an IMU, a piezoelectric sensing path, an ADC, and an ESP32-C3 controller to collect data for the monitoring software.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874519"/>
            <a:ext cx="1481328" cy="123444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19672" y="2121408"/>
            <a:ext cx="1335024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EBEFF"/>
                </a:solidFill>
                <a:latin typeface="Aptos"/>
              </a:rPr>
              <a:t>MPU6050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9672" y="2542032"/>
            <a:ext cx="1335024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DBCCF"/>
                </a:solidFill>
                <a:latin typeface="Aptos"/>
              </a:rPr>
              <a:t>Digital motion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874519"/>
            <a:ext cx="1481328" cy="123444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5592" y="2121408"/>
            <a:ext cx="1335024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B152"/>
                </a:solidFill>
                <a:latin typeface="Aptos"/>
              </a:rPr>
              <a:t>PZT + ADS1115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592" y="2542032"/>
            <a:ext cx="1335024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DBCCF"/>
                </a:solidFill>
                <a:latin typeface="Aptos"/>
              </a:rPr>
              <a:t>Analog vibration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874519"/>
            <a:ext cx="1481328" cy="1234440"/>
          </a:xfrm>
          <a:prstGeom prst="roundRect">
            <a:avLst/>
          </a:prstGeom>
          <a:solidFill>
            <a:srgbClr val="15233A"/>
          </a:solidFill>
          <a:ln>
            <a:solidFill>
              <a:srgbClr val="15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1512" y="2121408"/>
            <a:ext cx="1335024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8D2BE"/>
                </a:solidFill>
                <a:latin typeface="Aptos"/>
              </a:rPr>
              <a:t>ESP32-C3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2542032"/>
            <a:ext cx="1335024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DBCCF"/>
                </a:solidFill>
                <a:latin typeface="Aptos"/>
              </a:rPr>
              <a:t>Control + transfer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94760"/>
            <a:ext cx="5029200" cy="914400"/>
          </a:xfrm>
          <a:prstGeom prst="roundRect">
            <a:avLst/>
          </a:prstGeom>
          <a:solidFill>
            <a:srgbClr val="1B2D46"/>
          </a:solidFill>
          <a:ln>
            <a:solidFill>
              <a:srgbClr val="1B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4005072"/>
            <a:ext cx="164592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B152"/>
                </a:solidFill>
                <a:latin typeface="Aptos"/>
              </a:rPr>
              <a:t>KEY REQUIREMENT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950208"/>
            <a:ext cx="2880360" cy="43891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4F8FC"/>
                </a:solidFill>
                <a:latin typeface="Aptos"/>
              </a:rPr>
              <a:t>Condition and protect the PZT signal before ADC input.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365760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8D2BE"/>
                </a:solidFill>
                <a:latin typeface="Aptos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5852160"/>
            <a:ext cx="310896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DBCCF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963</Words>
  <Application>Microsoft Office PowerPoint</Application>
  <PresentationFormat>Widescreen</PresentationFormat>
  <Paragraphs>187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Bridge Health Monitoring and Earthquake Detection System — Hardware</dc:title>
  <dc:subject>Hardware-focused project presentation</dc:subject>
  <dc:creator>Project Team</dc:creator>
  <cp:keywords/>
  <dc:description>generated using python-pptx</dc:description>
  <cp:lastModifiedBy>Nikhil Reddy</cp:lastModifiedBy>
  <cp:revision>2</cp:revision>
  <dcterms:created xsi:type="dcterms:W3CDTF">2013-01-27T09:14:16Z</dcterms:created>
  <dcterms:modified xsi:type="dcterms:W3CDTF">2026-10-23T06:35:57Z</dcterms:modified>
  <cp:category/>
</cp:coreProperties>
</file>